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6"/>
  </p:notesMasterIdLst>
  <p:sldIdLst>
    <p:sldId id="256" r:id="rId5"/>
    <p:sldId id="2146847054" r:id="rId6"/>
    <p:sldId id="262" r:id="rId7"/>
    <p:sldId id="265" r:id="rId8"/>
    <p:sldId id="266" r:id="rId9"/>
    <p:sldId id="267" r:id="rId10"/>
    <p:sldId id="2146847056" r:id="rId11"/>
    <p:sldId id="268" r:id="rId12"/>
    <p:sldId id="2146847055" r:id="rId13"/>
    <p:sldId id="269" r:id="rId14"/>
    <p:sldId id="25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10790B-E46E-4895-8357-51FEA2E0FA97}" v="74" dt="2025-07-23T15:19:26.8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snapToGrid="0">
      <p:cViewPr varScale="1">
        <p:scale>
          <a:sx n="78" d="100"/>
          <a:sy n="78" d="100"/>
        </p:scale>
        <p:origin x="1032"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23-07-2025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7/23/2025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7/23/2025</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7/23/2025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7/23/2025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7/23/2025</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7/23/2025</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7/23/2025</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7/23/2025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7/23/2025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7/23/2025</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7/23/2025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7/23/2025</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Pritamp2004/EMPLOYEE-SALARY-PREDICTIONS.git" TargetMode="Externa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localhost:8889/notebooks/Crop%20Recommendation%20System%20using%20Machine%20Learning%202.0/EMPLOYEE%20SALARY%20PREDICTION.ipynb"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a:solidFill>
                  <a:schemeClr val="accent1"/>
                </a:solidFill>
                <a:latin typeface="Arial" panose="020B0604020202020204" pitchFamily="34" charset="0"/>
                <a:cs typeface="Arial" panose="020B0604020202020204" pitchFamily="34" charset="0"/>
              </a:rPr>
              <a:t>PROJECT TITLE: Employee salary prediction using machine learning</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3117529" y="4586365"/>
            <a:ext cx="7980183" cy="1323439"/>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Name-PRITAM PATRA</a:t>
            </a:r>
          </a:p>
          <a:p>
            <a:pPr marL="457200" indent="-457200">
              <a:buAutoNum type="arabicPeriod"/>
            </a:pPr>
            <a:r>
              <a:rPr lang="en-US" sz="2000" b="1" dirty="0">
                <a:solidFill>
                  <a:schemeClr val="accent1">
                    <a:lumMod val="75000"/>
                  </a:schemeClr>
                </a:solidFill>
                <a:latin typeface="Arial"/>
                <a:cs typeface="Arial"/>
              </a:rPr>
              <a:t>College Name- HALDIA INSTITUTE OF TECHNOLOGY</a:t>
            </a:r>
          </a:p>
          <a:p>
            <a:pPr marL="457200" indent="-457200">
              <a:buAutoNum type="arabicPeriod"/>
            </a:pPr>
            <a:r>
              <a:rPr lang="en-US" sz="2000" b="1" dirty="0">
                <a:solidFill>
                  <a:schemeClr val="accent1">
                    <a:lumMod val="75000"/>
                  </a:schemeClr>
                </a:solidFill>
                <a:latin typeface="Arial"/>
                <a:cs typeface="Arial"/>
              </a:rPr>
              <a:t>Department- CHEMICAL ENGINEERING</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r>
              <a:rPr lang="en-US" sz="2000" dirty="0">
                <a:latin typeface="Arial"/>
                <a:ea typeface="+mn-lt"/>
                <a:cs typeface="Arial"/>
              </a:rPr>
              <a:t>(Should not include 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pPr marL="305435" indent="-305435"/>
            <a:r>
              <a:rPr lang="en-US" sz="2000" b="1" dirty="0">
                <a:latin typeface="Arial"/>
                <a:ea typeface="+mn-lt"/>
                <a:cs typeface="+mn-lt"/>
              </a:rPr>
              <a:t>Algorithm &amp; Deployment (Step by Step  Procedure) </a:t>
            </a:r>
            <a:endParaRPr lang="en-US" dirty="0">
              <a:latin typeface="Arial"/>
              <a:cs typeface="Calibri"/>
            </a:endParaRPr>
          </a:p>
          <a:p>
            <a:pPr marL="305435" indent="-305435"/>
            <a:r>
              <a:rPr lang="en-US" sz="2000" b="1" dirty="0">
                <a:latin typeface="Arial"/>
                <a:ea typeface="+mn-lt"/>
                <a:cs typeface="Arial"/>
              </a:rPr>
              <a:t>Result</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r>
              <a:rPr lang="en-US" sz="2000" b="1" dirty="0" err="1">
                <a:latin typeface="Arial"/>
                <a:ea typeface="+mn-lt"/>
                <a:cs typeface="Arial"/>
              </a:rPr>
              <a:t>Optonal</a:t>
            </a:r>
            <a:r>
              <a:rPr lang="en-US" sz="2000" b="1" dirty="0">
                <a:latin typeface="Arial"/>
                <a:ea typeface="+mn-lt"/>
                <a:cs typeface="Arial"/>
              </a:rPr>
              <a:t>)</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a:bodyPr>
          <a:lstStyle/>
          <a:p>
            <a:pPr marL="305435" indent="-305435"/>
            <a:r>
              <a:rPr lang="en-US" sz="2800" b="1" dirty="0"/>
              <a:t>The project aims to develop a machine learning model.</a:t>
            </a:r>
          </a:p>
          <a:p>
            <a:pPr marL="305435" indent="-305435"/>
            <a:r>
              <a:rPr lang="en-US" sz="2800" b="1" dirty="0"/>
              <a:t> That predicts employee salaries based on factors like experience, job role, location, and industry.</a:t>
            </a:r>
          </a:p>
          <a:p>
            <a:pPr marL="305435" indent="-305435"/>
            <a:r>
              <a:rPr lang="en-US" sz="2800" b="1" dirty="0"/>
              <a:t>By analyzing historical data, the model uncovers patterns to support data-driven hiring and compensation decisions.</a:t>
            </a:r>
          </a:p>
          <a:p>
            <a:pPr marL="305435" indent="-305435"/>
            <a:r>
              <a:rPr lang="en-US" sz="2800" b="1" dirty="0"/>
              <a:t>Key tasks include data preprocessing, feature engineering, model training.</a:t>
            </a:r>
          </a:p>
          <a:p>
            <a:pPr marL="305435" indent="-305435"/>
            <a:r>
              <a:rPr lang="en-US" sz="2800" b="1" dirty="0"/>
              <a:t>Performance evaluation using regression techniques.</a:t>
            </a:r>
            <a:endParaRPr lang="en-IN" sz="2800" b="1"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a:xfrm>
            <a:off x="393291" y="1347019"/>
            <a:ext cx="11405418" cy="5014452"/>
          </a:xfrm>
        </p:spPr>
        <p:txBody>
          <a:bodyPr>
            <a:normAutofit fontScale="32500" lnSpcReduction="20000"/>
          </a:bodyPr>
          <a:lstStyle/>
          <a:p>
            <a:pPr marL="305435" indent="-305435"/>
            <a:endParaRPr lang="en-IN" sz="2800" b="1" dirty="0">
              <a:solidFill>
                <a:srgbClr val="0F0F0F"/>
              </a:solidFill>
            </a:endParaRPr>
          </a:p>
          <a:p>
            <a:pPr marL="305435" indent="-305435"/>
            <a:endParaRPr lang="en-IN" sz="2800" b="1" dirty="0">
              <a:solidFill>
                <a:srgbClr val="0F0F0F"/>
              </a:solidFill>
            </a:endParaRPr>
          </a:p>
          <a:p>
            <a:pPr marL="305435" indent="-305435"/>
            <a:r>
              <a:rPr lang="en-IN" sz="5100" b="1" dirty="0">
                <a:solidFill>
                  <a:srgbClr val="0F0F0F"/>
                </a:solidFill>
              </a:rPr>
              <a:t>System requirements: </a:t>
            </a:r>
          </a:p>
          <a:p>
            <a:pPr>
              <a:buFont typeface="Wingdings" panose="05000000000000000000" pitchFamily="2" charset="2"/>
              <a:buChar char="Ø"/>
            </a:pPr>
            <a:r>
              <a:rPr lang="en-US" sz="4900" spc="-100" dirty="0">
                <a:solidFill>
                  <a:srgbClr val="000000"/>
                </a:solidFill>
                <a:cs typeface="Arial" panose="020B0604020202020204" pitchFamily="34" charset="0"/>
              </a:rPr>
              <a:t>Hardware Requirements - Processor: Minimum 4-core CPU (Intel i5 or equivalent) - RAM: 8GB or higher (for smooth model training) -</a:t>
            </a:r>
          </a:p>
          <a:p>
            <a:pPr marL="0" indent="0">
              <a:buNone/>
            </a:pPr>
            <a:r>
              <a:rPr lang="en-IN" sz="4900" spc="-100" dirty="0">
                <a:solidFill>
                  <a:srgbClr val="000000"/>
                </a:solidFill>
                <a:cs typeface="Arial" panose="020B0604020202020204" pitchFamily="34" charset="0"/>
              </a:rPr>
              <a:t>       Storage: 512GB HDD/SSD (for datasets and model storage) - GPU (Optional): NVIDIA GPU (for faster deep learning model training)</a:t>
            </a:r>
          </a:p>
          <a:p>
            <a:pPr>
              <a:buFont typeface="Wingdings" panose="05000000000000000000" pitchFamily="2" charset="2"/>
              <a:buChar char="Ø"/>
            </a:pPr>
            <a:r>
              <a:rPr lang="en-US" sz="4900" spc="-100" dirty="0">
                <a:solidFill>
                  <a:srgbClr val="000000"/>
                </a:solidFill>
                <a:cs typeface="Arial" panose="020B0604020202020204" pitchFamily="34" charset="0"/>
              </a:rPr>
              <a:t>Software Requirements - Operating System: Windows/Linux/macOS - Python: Version 3.8 or higher (primary programming language)</a:t>
            </a:r>
          </a:p>
          <a:p>
            <a:pPr marL="0" indent="0">
              <a:buNone/>
            </a:pPr>
            <a:r>
              <a:rPr lang="en-IN" sz="4900" b="1" dirty="0">
                <a:solidFill>
                  <a:srgbClr val="0F0F0F"/>
                </a:solidFill>
                <a:cs typeface="Arial" panose="020B0604020202020204" pitchFamily="34" charset="0"/>
              </a:rPr>
              <a:t>      </a:t>
            </a:r>
            <a:r>
              <a:rPr lang="en-IN" sz="4900" spc="-100" dirty="0">
                <a:solidFill>
                  <a:srgbClr val="000000"/>
                </a:solidFill>
                <a:cs typeface="Arial" panose="020B0604020202020204" pitchFamily="34" charset="0"/>
              </a:rPr>
              <a:t>Anaconda/</a:t>
            </a:r>
            <a:r>
              <a:rPr lang="en-IN" sz="4900" spc="-100" dirty="0" err="1">
                <a:solidFill>
                  <a:srgbClr val="000000"/>
                </a:solidFill>
                <a:cs typeface="Arial" panose="020B0604020202020204" pitchFamily="34" charset="0"/>
              </a:rPr>
              <a:t>Jupyter</a:t>
            </a:r>
            <a:r>
              <a:rPr lang="en-IN" sz="4900" spc="-100" dirty="0">
                <a:solidFill>
                  <a:srgbClr val="000000"/>
                </a:solidFill>
                <a:cs typeface="Arial" panose="020B0604020202020204" pitchFamily="34" charset="0"/>
              </a:rPr>
              <a:t> Notebook</a:t>
            </a:r>
            <a:endParaRPr lang="en-IN" sz="4900" b="1" dirty="0">
              <a:solidFill>
                <a:srgbClr val="0F0F0F"/>
              </a:solidFill>
              <a:cs typeface="Arial" panose="020B0604020202020204" pitchFamily="34" charset="0"/>
            </a:endParaRPr>
          </a:p>
          <a:p>
            <a:pPr marL="0" indent="0">
              <a:buNone/>
            </a:pPr>
            <a:endParaRPr lang="en-IN" sz="2800" b="1" dirty="0">
              <a:solidFill>
                <a:srgbClr val="0F0F0F"/>
              </a:solidFill>
            </a:endParaRPr>
          </a:p>
          <a:p>
            <a:pPr marL="305435" indent="-305435"/>
            <a:r>
              <a:rPr lang="en-IN" sz="5100" b="1" dirty="0">
                <a:solidFill>
                  <a:srgbClr val="0F0F0F"/>
                </a:solidFill>
              </a:rPr>
              <a:t>Library required to build the model </a:t>
            </a:r>
          </a:p>
          <a:p>
            <a:pPr>
              <a:buFont typeface="Wingdings" panose="05000000000000000000" pitchFamily="2" charset="2"/>
              <a:buChar char="Ø"/>
            </a:pPr>
            <a:r>
              <a:rPr lang="en-IN" sz="4900" b="1" dirty="0">
                <a:solidFill>
                  <a:srgbClr val="0F0F0F"/>
                </a:solidFill>
              </a:rPr>
              <a:t> </a:t>
            </a:r>
            <a:r>
              <a:rPr lang="en-US" sz="4900" spc="-100" dirty="0">
                <a:solidFill>
                  <a:srgbClr val="000000"/>
                </a:solidFill>
              </a:rPr>
              <a:t>Data Handling &amp; Preprocessing – (Pandas – Data manipulation and analysis. - NumPy – Numerical computations. - Scikit-learn –</a:t>
            </a:r>
          </a:p>
          <a:p>
            <a:pPr marL="0" indent="0">
              <a:buNone/>
            </a:pPr>
            <a:r>
              <a:rPr lang="en-IN" sz="4900" b="1" dirty="0"/>
              <a:t>         </a:t>
            </a:r>
            <a:r>
              <a:rPr lang="en-US" sz="4900" spc="-100" dirty="0">
                <a:solidFill>
                  <a:srgbClr val="000000"/>
                </a:solidFill>
              </a:rPr>
              <a:t>Feature scaling, train-test split, encoding.)</a:t>
            </a:r>
          </a:p>
          <a:p>
            <a:pPr>
              <a:buFont typeface="Wingdings" panose="05000000000000000000" pitchFamily="2" charset="2"/>
              <a:buChar char="Ø"/>
            </a:pPr>
            <a:r>
              <a:rPr lang="en-US" sz="4900" spc="-100" dirty="0">
                <a:solidFill>
                  <a:srgbClr val="000000"/>
                </a:solidFill>
              </a:rPr>
              <a:t>Machine Learning Algorithms - (Scikit-learn – For implementing classification models (Random Forest, Decision Tree, SVM, etc.). -</a:t>
            </a:r>
          </a:p>
          <a:p>
            <a:pPr marL="0" indent="0">
              <a:buNone/>
            </a:pPr>
            <a:r>
              <a:rPr lang="en-US" sz="4900" spc="-100" dirty="0">
                <a:solidFill>
                  <a:srgbClr val="000000"/>
                </a:solidFill>
              </a:rPr>
              <a:t>          </a:t>
            </a:r>
            <a:r>
              <a:rPr lang="en-US" sz="4900" spc="-100" dirty="0" err="1">
                <a:solidFill>
                  <a:srgbClr val="000000"/>
                </a:solidFill>
              </a:rPr>
              <a:t>XGBoost</a:t>
            </a:r>
            <a:r>
              <a:rPr lang="en-US" sz="4900" spc="-100" dirty="0">
                <a:solidFill>
                  <a:srgbClr val="000000"/>
                </a:solidFill>
              </a:rPr>
              <a:t>/</a:t>
            </a:r>
            <a:r>
              <a:rPr lang="en-US" sz="4900" spc="-100" dirty="0" err="1">
                <a:solidFill>
                  <a:srgbClr val="000000"/>
                </a:solidFill>
              </a:rPr>
              <a:t>LightGBM</a:t>
            </a:r>
            <a:r>
              <a:rPr lang="en-US" sz="4900" spc="-100" dirty="0">
                <a:solidFill>
                  <a:srgbClr val="000000"/>
                </a:solidFill>
              </a:rPr>
              <a:t> – For gradient boosting-based models. - TensorFlow/</a:t>
            </a:r>
            <a:r>
              <a:rPr lang="en-US" sz="4900" spc="-100" dirty="0" err="1">
                <a:solidFill>
                  <a:srgbClr val="000000"/>
                </a:solidFill>
              </a:rPr>
              <a:t>Keras</a:t>
            </a:r>
            <a:r>
              <a:rPr lang="en-US" sz="4900" spc="-100" dirty="0">
                <a:solidFill>
                  <a:srgbClr val="000000"/>
                </a:solidFill>
              </a:rPr>
              <a:t> (Optional) – If using deep learning.)</a:t>
            </a:r>
          </a:p>
          <a:p>
            <a:pPr>
              <a:buFont typeface="Wingdings" panose="05000000000000000000" pitchFamily="2" charset="2"/>
              <a:buChar char="Ø"/>
            </a:pPr>
            <a:r>
              <a:rPr lang="en-IN" sz="4900" spc="-100" dirty="0">
                <a:solidFill>
                  <a:srgbClr val="000000"/>
                </a:solidFill>
              </a:rPr>
              <a:t>Model Evaluation &amp; Visualization* - (Matplotlib &amp; Seaborn – Data visualization (plots, heatmaps). - Scikit-learn Metrics –</a:t>
            </a:r>
          </a:p>
          <a:p>
            <a:pPr marL="0" indent="0">
              <a:buNone/>
            </a:pPr>
            <a:r>
              <a:rPr lang="en-IN" sz="4900" spc="-100">
                <a:solidFill>
                  <a:srgbClr val="000000"/>
                </a:solidFill>
              </a:rPr>
              <a:t>        Accuracy</a:t>
            </a:r>
            <a:r>
              <a:rPr lang="en-IN" sz="4900" spc="-100" dirty="0">
                <a:solidFill>
                  <a:srgbClr val="000000"/>
                </a:solidFill>
              </a:rPr>
              <a:t>, Precision, Recall, F1-Score, Confusion Matrix)</a:t>
            </a:r>
          </a:p>
          <a:p>
            <a:pPr marL="0" indent="0">
              <a:buNone/>
            </a:pPr>
            <a:endParaRPr lang="en-IN" sz="4900" spc="-100" dirty="0">
              <a:solidFill>
                <a:srgbClr val="000000"/>
              </a:solidFill>
              <a:latin typeface="Calibri"/>
            </a:endParaRPr>
          </a:p>
          <a:p>
            <a:pPr>
              <a:buFont typeface="Wingdings" panose="05000000000000000000" pitchFamily="2" charset="2"/>
              <a:buChar char="Ø"/>
            </a:pPr>
            <a:endParaRPr lang="en-US" sz="2900" spc="-100" dirty="0">
              <a:solidFill>
                <a:srgbClr val="000000"/>
              </a:solidFill>
              <a:latin typeface="Calibri"/>
            </a:endParaRPr>
          </a:p>
          <a:p>
            <a:pPr marL="0" indent="0">
              <a:buNone/>
            </a:pPr>
            <a:endParaRPr lang="en-US" sz="2900" spc="-100" dirty="0">
              <a:solidFill>
                <a:srgbClr val="000000"/>
              </a:solidFill>
              <a:latin typeface="Calibri"/>
            </a:endParaRPr>
          </a:p>
          <a:p>
            <a:pPr marL="0" indent="0">
              <a:buNone/>
            </a:pPr>
            <a:endParaRPr lang="en-IN" sz="2000" b="1" dirty="0"/>
          </a:p>
          <a:p>
            <a:pPr marL="0" indent="0">
              <a:buNone/>
            </a:pPr>
            <a:endParaRPr lang="en-IN" sz="2000" b="1" dirty="0"/>
          </a:p>
          <a:p>
            <a:pPr marL="0" indent="0">
              <a:buNone/>
            </a:pPr>
            <a:endParaRPr lang="en-IN" sz="2000" b="1" dirty="0"/>
          </a:p>
        </p:txBody>
      </p:sp>
    </p:spTree>
    <p:extLst>
      <p:ext uri="{BB962C8B-B14F-4D97-AF65-F5344CB8AC3E}">
        <p14:creationId xmlns:p14="http://schemas.microsoft.com/office/powerpoint/2010/main" val="3202024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a:xfrm>
            <a:off x="581192" y="1302025"/>
            <a:ext cx="11029615" cy="4980787"/>
          </a:xfrm>
        </p:spPr>
        <p:txBody>
          <a:bodyPr>
            <a:noAutofit/>
          </a:bodyPr>
          <a:lstStyle/>
          <a:p>
            <a:pPr>
              <a:buFont typeface="Wingdings" panose="05000000000000000000" pitchFamily="2" charset="2"/>
              <a:buChar char="Ø"/>
            </a:pPr>
            <a:endParaRPr lang="en-IN" sz="1600" b="1" spc="-100" dirty="0">
              <a:solidFill>
                <a:srgbClr val="000000"/>
              </a:solidFill>
              <a:latin typeface="Arial" panose="020B0604020202020204" pitchFamily="34" charset="0"/>
              <a:cs typeface="Arial" panose="020B0604020202020204" pitchFamily="34" charset="0"/>
            </a:endParaRPr>
          </a:p>
          <a:p>
            <a:pPr>
              <a:buFont typeface="Wingdings" panose="05000000000000000000" pitchFamily="2" charset="2"/>
              <a:buChar char="Ø"/>
            </a:pPr>
            <a:endParaRPr lang="en-IN" sz="1600" b="1" spc="-100" dirty="0">
              <a:solidFill>
                <a:srgbClr val="000000"/>
              </a:solidFill>
              <a:latin typeface="Arial" panose="020B0604020202020204" pitchFamily="34" charset="0"/>
              <a:cs typeface="Arial" panose="020B0604020202020204" pitchFamily="34" charset="0"/>
            </a:endParaRPr>
          </a:p>
          <a:p>
            <a:pPr>
              <a:buFont typeface="Wingdings" panose="05000000000000000000" pitchFamily="2" charset="2"/>
              <a:buChar char="Ø"/>
            </a:pPr>
            <a:endParaRPr lang="en-IN" sz="1600" b="1" spc="-100" dirty="0">
              <a:solidFill>
                <a:srgbClr val="000000"/>
              </a:solidFill>
              <a:latin typeface="Arial" panose="020B0604020202020204" pitchFamily="34" charset="0"/>
              <a:cs typeface="Arial" panose="020B0604020202020204" pitchFamily="34" charset="0"/>
            </a:endParaRPr>
          </a:p>
          <a:p>
            <a:pPr>
              <a:buFont typeface="Wingdings" panose="05000000000000000000" pitchFamily="2" charset="2"/>
              <a:buChar char="Ø"/>
            </a:pPr>
            <a:endParaRPr lang="en-IN" sz="1600" b="1" spc="-100" dirty="0">
              <a:solidFill>
                <a:srgbClr val="000000"/>
              </a:solidFill>
              <a:latin typeface="Arial" panose="020B0604020202020204" pitchFamily="34" charset="0"/>
              <a:cs typeface="Arial" panose="020B0604020202020204" pitchFamily="34" charset="0"/>
            </a:endParaRPr>
          </a:p>
          <a:p>
            <a:pPr>
              <a:buFont typeface="Wingdings" panose="05000000000000000000" pitchFamily="2" charset="2"/>
              <a:buChar char="Ø"/>
            </a:pPr>
            <a:endParaRPr lang="en-IN" sz="1600" b="1" spc="-100" dirty="0">
              <a:solidFill>
                <a:srgbClr val="000000"/>
              </a:solidFill>
              <a:latin typeface="Arial" panose="020B0604020202020204" pitchFamily="34" charset="0"/>
              <a:cs typeface="Arial" panose="020B0604020202020204" pitchFamily="34" charset="0"/>
            </a:endParaRPr>
          </a:p>
          <a:p>
            <a:pPr>
              <a:buFont typeface="Wingdings" panose="05000000000000000000" pitchFamily="2" charset="2"/>
              <a:buChar char="q"/>
            </a:pPr>
            <a:endParaRPr lang="en-IN" sz="1600" b="1" spc="-100" dirty="0">
              <a:solidFill>
                <a:schemeClr val="accent1"/>
              </a:solidFill>
              <a:cs typeface="Arial" panose="020B0604020202020204" pitchFamily="34" charset="0"/>
            </a:endParaRPr>
          </a:p>
          <a:p>
            <a:pPr>
              <a:buFont typeface="Wingdings" panose="05000000000000000000" pitchFamily="2" charset="2"/>
              <a:buChar char="q"/>
            </a:pPr>
            <a:endParaRPr lang="en-IN" sz="1600" b="1" spc="-100" dirty="0">
              <a:solidFill>
                <a:schemeClr val="accent1"/>
              </a:solidFill>
              <a:cs typeface="Arial" panose="020B0604020202020204" pitchFamily="34" charset="0"/>
            </a:endParaRPr>
          </a:p>
          <a:p>
            <a:pPr>
              <a:buFont typeface="Wingdings" panose="05000000000000000000" pitchFamily="2" charset="2"/>
              <a:buChar char="q"/>
            </a:pPr>
            <a:endParaRPr lang="en-IN" sz="1600" b="1" spc="-100" dirty="0">
              <a:solidFill>
                <a:schemeClr val="accent1"/>
              </a:solidFill>
              <a:cs typeface="Arial" panose="020B0604020202020204" pitchFamily="34" charset="0"/>
            </a:endParaRPr>
          </a:p>
          <a:p>
            <a:pPr>
              <a:buFont typeface="Wingdings" panose="05000000000000000000" pitchFamily="2" charset="2"/>
              <a:buChar char="q"/>
            </a:pPr>
            <a:endParaRPr lang="en-IN" sz="1600" b="1" spc="-100" dirty="0">
              <a:solidFill>
                <a:schemeClr val="accent1"/>
              </a:solidFill>
              <a:cs typeface="Arial" panose="020B0604020202020204" pitchFamily="34" charset="0"/>
            </a:endParaRPr>
          </a:p>
          <a:p>
            <a:pPr>
              <a:buFont typeface="Wingdings" panose="05000000000000000000" pitchFamily="2" charset="2"/>
              <a:buChar char="q"/>
            </a:pPr>
            <a:endParaRPr lang="en-IN" sz="1600" b="1" spc="-100" dirty="0">
              <a:solidFill>
                <a:schemeClr val="accent1"/>
              </a:solidFill>
              <a:cs typeface="Arial" panose="020B0604020202020204" pitchFamily="34" charset="0"/>
            </a:endParaRPr>
          </a:p>
          <a:p>
            <a:pPr>
              <a:buFont typeface="Wingdings" panose="05000000000000000000" pitchFamily="2" charset="2"/>
              <a:buChar char="q"/>
            </a:pPr>
            <a:r>
              <a:rPr lang="en-IN" sz="1600" b="1" spc="-100" dirty="0">
                <a:solidFill>
                  <a:schemeClr val="accent1"/>
                </a:solidFill>
                <a:cs typeface="Arial" panose="020B0604020202020204" pitchFamily="34" charset="0"/>
              </a:rPr>
              <a:t>Algorithm Selection:</a:t>
            </a:r>
          </a:p>
          <a:p>
            <a:pPr>
              <a:buFont typeface="Wingdings" panose="05000000000000000000" pitchFamily="2" charset="2"/>
              <a:buChar char="§"/>
            </a:pPr>
            <a:r>
              <a:rPr lang="en-IN" sz="1600" b="1" spc="-100" dirty="0">
                <a:solidFill>
                  <a:srgbClr val="000000"/>
                </a:solidFill>
                <a:latin typeface="Arial" panose="020B0604020202020204" pitchFamily="34" charset="0"/>
                <a:cs typeface="Arial" panose="020B0604020202020204" pitchFamily="34" charset="0"/>
              </a:rPr>
              <a:t>  </a:t>
            </a:r>
            <a:r>
              <a:rPr lang="en-US" sz="1400" spc="-100" dirty="0">
                <a:solidFill>
                  <a:srgbClr val="000000"/>
                </a:solidFill>
              </a:rPr>
              <a:t>Primary Choice: Random Forest (due to robustness and interpretability).</a:t>
            </a:r>
          </a:p>
          <a:p>
            <a:pPr>
              <a:buFont typeface="Wingdings" panose="05000000000000000000" pitchFamily="2" charset="2"/>
              <a:buChar char="§"/>
            </a:pPr>
            <a:r>
              <a:rPr lang="en-US" sz="1400" spc="-100" dirty="0">
                <a:solidFill>
                  <a:srgbClr val="000000"/>
                </a:solidFill>
              </a:rPr>
              <a:t>     Secondary Choice: </a:t>
            </a:r>
            <a:r>
              <a:rPr lang="en-US" altLang="en-US" sz="1400" dirty="0" err="1">
                <a:solidFill>
                  <a:schemeClr val="tx1"/>
                </a:solidFill>
              </a:rPr>
              <a:t>GradientBoosting</a:t>
            </a:r>
            <a:r>
              <a:rPr lang="en-US" altLang="en-US" sz="1400" dirty="0">
                <a:solidFill>
                  <a:schemeClr val="tx1"/>
                </a:solidFill>
              </a:rPr>
              <a:t> </a:t>
            </a:r>
            <a:r>
              <a:rPr lang="en-US" sz="1400" spc="-100" dirty="0">
                <a:solidFill>
                  <a:srgbClr val="000000"/>
                </a:solidFill>
              </a:rPr>
              <a:t>(for higher accuracy if needed).</a:t>
            </a:r>
          </a:p>
          <a:p>
            <a:pPr>
              <a:buFont typeface="Wingdings" panose="05000000000000000000" pitchFamily="2" charset="2"/>
              <a:buChar char="Ø"/>
            </a:pPr>
            <a:r>
              <a:rPr lang="en-US" sz="1400" b="1" dirty="0"/>
              <a:t>Data Preprocessing</a:t>
            </a:r>
          </a:p>
          <a:p>
            <a:r>
              <a:rPr lang="en-US" sz="1200" dirty="0"/>
              <a:t>Handle missing values</a:t>
            </a:r>
          </a:p>
          <a:p>
            <a:r>
              <a:rPr lang="en-US" sz="1200" dirty="0"/>
              <a:t>Encode categorical variables (e.g., job titles, education)</a:t>
            </a:r>
          </a:p>
          <a:p>
            <a:r>
              <a:rPr lang="en-US" sz="1200" dirty="0"/>
              <a:t>Normalize or standardize numerical data</a:t>
            </a:r>
          </a:p>
          <a:p>
            <a:pPr>
              <a:buFont typeface="Wingdings" panose="05000000000000000000" pitchFamily="2" charset="2"/>
              <a:buChar char="Ø"/>
            </a:pPr>
            <a:r>
              <a:rPr lang="en-US" sz="1600" b="1" dirty="0"/>
              <a:t>Model Training &amp; Evaluation</a:t>
            </a:r>
          </a:p>
          <a:p>
            <a:r>
              <a:rPr lang="en-US" sz="1200" dirty="0"/>
              <a:t>Train/test split or cross-validation</a:t>
            </a:r>
          </a:p>
          <a:p>
            <a:pPr lvl="0" defTabSz="914400" eaLnBrk="0" fontAlgn="base" hangingPunct="0">
              <a:lnSpc>
                <a:spcPct val="100000"/>
              </a:lnSpc>
              <a:spcBef>
                <a:spcPct val="0"/>
              </a:spcBef>
              <a:spcAft>
                <a:spcPct val="0"/>
              </a:spcAft>
              <a:buClrTx/>
              <a:buSzTx/>
              <a:buFont typeface="Wingdings" panose="05000000000000000000" pitchFamily="2" charset="2"/>
              <a:buChar char="q"/>
            </a:pPr>
            <a:r>
              <a:rPr lang="en-IN" sz="1600" dirty="0">
                <a:solidFill>
                  <a:schemeClr val="accent1"/>
                </a:solidFill>
              </a:rPr>
              <a:t>Deployment Strategy</a:t>
            </a:r>
            <a:endParaRPr lang="en-US" sz="1600" b="1" dirty="0">
              <a:solidFill>
                <a:schemeClr val="accent1"/>
              </a:solidFill>
            </a:endParaRPr>
          </a:p>
          <a:p>
            <a:pPr marL="0" lvl="0" indent="0" defTabSz="914400" eaLnBrk="0" fontAlgn="base" hangingPunct="0">
              <a:lnSpc>
                <a:spcPct val="100000"/>
              </a:lnSpc>
              <a:spcBef>
                <a:spcPct val="0"/>
              </a:spcBef>
              <a:spcAft>
                <a:spcPct val="0"/>
              </a:spcAft>
              <a:buClrTx/>
              <a:buSzTx/>
              <a:buNone/>
            </a:pPr>
            <a:r>
              <a:rPr lang="en-US" altLang="en-US" sz="2300" b="1" dirty="0">
                <a:solidFill>
                  <a:schemeClr val="tx1">
                    <a:lumMod val="95000"/>
                    <a:lumOff val="5000"/>
                  </a:schemeClr>
                </a:solidFill>
              </a:rPr>
              <a:t> </a:t>
            </a:r>
            <a:r>
              <a:rPr lang="en-US" altLang="en-US" sz="1400" b="1" dirty="0">
                <a:solidFill>
                  <a:schemeClr val="tx1">
                    <a:lumMod val="95000"/>
                    <a:lumOff val="5000"/>
                  </a:schemeClr>
                </a:solidFill>
              </a:rPr>
              <a:t>Model Packaging</a:t>
            </a:r>
          </a:p>
          <a:p>
            <a:pPr lvl="0" defTabSz="914400" eaLnBrk="0" fontAlgn="base" hangingPunct="0">
              <a:lnSpc>
                <a:spcPct val="100000"/>
              </a:lnSpc>
              <a:spcBef>
                <a:spcPct val="0"/>
              </a:spcBef>
              <a:spcAft>
                <a:spcPct val="0"/>
              </a:spcAft>
              <a:buClrTx/>
              <a:buSzTx/>
              <a:buFont typeface="Wingdings" panose="05000000000000000000" pitchFamily="2" charset="2"/>
              <a:buChar char="§"/>
            </a:pPr>
            <a:r>
              <a:rPr lang="en-US" altLang="en-US" sz="1200" dirty="0">
                <a:solidFill>
                  <a:schemeClr val="tx1"/>
                </a:solidFill>
              </a:rPr>
              <a:t>Export trained model (e.g., .</a:t>
            </a:r>
            <a:r>
              <a:rPr lang="en-US" altLang="en-US" sz="1200" dirty="0" err="1">
                <a:solidFill>
                  <a:schemeClr val="tx1"/>
                </a:solidFill>
              </a:rPr>
              <a:t>pkl</a:t>
            </a:r>
            <a:r>
              <a:rPr lang="en-US" altLang="en-US" sz="1200" dirty="0">
                <a:solidFill>
                  <a:schemeClr val="tx1"/>
                </a:solidFill>
              </a:rPr>
              <a:t> for </a:t>
            </a:r>
            <a:r>
              <a:rPr lang="en-US" altLang="en-US" sz="1200" dirty="0" err="1">
                <a:solidFill>
                  <a:schemeClr val="tx1"/>
                </a:solidFill>
              </a:rPr>
              <a:t>sklearn</a:t>
            </a:r>
            <a:r>
              <a:rPr lang="en-US" altLang="en-US" sz="1200" dirty="0">
                <a:solidFill>
                  <a:schemeClr val="tx1"/>
                </a:solidFill>
              </a:rPr>
              <a:t>, .</a:t>
            </a:r>
            <a:r>
              <a:rPr lang="en-US" altLang="en-US" sz="1200" dirty="0" err="1">
                <a:solidFill>
                  <a:schemeClr val="tx1"/>
                </a:solidFill>
              </a:rPr>
              <a:t>json</a:t>
            </a:r>
            <a:r>
              <a:rPr lang="en-US" altLang="en-US" sz="1200" dirty="0">
                <a:solidFill>
                  <a:schemeClr val="tx1"/>
                </a:solidFill>
              </a:rPr>
              <a:t> for </a:t>
            </a:r>
            <a:r>
              <a:rPr lang="en-US" altLang="en-US" sz="1200" dirty="0" err="1">
                <a:solidFill>
                  <a:schemeClr val="tx1"/>
                </a:solidFill>
              </a:rPr>
              <a:t>XGBoost</a:t>
            </a:r>
            <a:r>
              <a:rPr lang="en-US" altLang="en-US" sz="1200" dirty="0">
                <a:solidFill>
                  <a:schemeClr val="tx1"/>
                </a:solidFill>
              </a:rPr>
              <a:t>)</a:t>
            </a:r>
          </a:p>
          <a:p>
            <a:pPr lvl="0" defTabSz="914400" eaLnBrk="0" fontAlgn="base" hangingPunct="0">
              <a:lnSpc>
                <a:spcPct val="100000"/>
              </a:lnSpc>
              <a:spcBef>
                <a:spcPct val="0"/>
              </a:spcBef>
              <a:spcAft>
                <a:spcPct val="0"/>
              </a:spcAft>
              <a:buClrTx/>
              <a:buSzTx/>
              <a:buFont typeface="Wingdings" panose="05000000000000000000" pitchFamily="2" charset="2"/>
              <a:buChar char="§"/>
            </a:pPr>
            <a:r>
              <a:rPr lang="en-US" altLang="en-US" sz="1200" dirty="0">
                <a:solidFill>
                  <a:schemeClr val="tx1"/>
                </a:solidFill>
              </a:rPr>
              <a:t>Create a pipeline for preprocessing + prediction</a:t>
            </a:r>
          </a:p>
          <a:p>
            <a:pPr lvl="0" defTabSz="914400" eaLnBrk="0" fontAlgn="base" hangingPunct="0">
              <a:lnSpc>
                <a:spcPct val="100000"/>
              </a:lnSpc>
              <a:spcBef>
                <a:spcPct val="0"/>
              </a:spcBef>
              <a:spcAft>
                <a:spcPct val="0"/>
              </a:spcAft>
              <a:buClrTx/>
              <a:buSzTx/>
              <a:buFont typeface="Wingdings" panose="05000000000000000000" pitchFamily="2" charset="2"/>
              <a:buChar char="Ø"/>
            </a:pPr>
            <a:r>
              <a:rPr lang="en-IN" sz="1400" b="1" dirty="0">
                <a:solidFill>
                  <a:schemeClr val="accent1"/>
                </a:solidFill>
              </a:rPr>
              <a:t>Tech Stack</a:t>
            </a:r>
          </a:p>
          <a:p>
            <a:pPr lvl="0" defTabSz="914400" eaLnBrk="0" fontAlgn="base" hangingPunct="0">
              <a:lnSpc>
                <a:spcPct val="100000"/>
              </a:lnSpc>
              <a:spcBef>
                <a:spcPct val="0"/>
              </a:spcBef>
              <a:spcAft>
                <a:spcPct val="0"/>
              </a:spcAft>
              <a:buClrTx/>
              <a:buSzTx/>
              <a:buFont typeface="Wingdings" panose="05000000000000000000" pitchFamily="2" charset="2"/>
              <a:buChar char="§"/>
            </a:pPr>
            <a:r>
              <a:rPr lang="en-IN" altLang="en-US" sz="1400" dirty="0">
                <a:solidFill>
                  <a:schemeClr val="tx1"/>
                </a:solidFill>
              </a:rPr>
              <a:t> </a:t>
            </a:r>
            <a:r>
              <a:rPr lang="en-IN" sz="1200" dirty="0" err="1"/>
              <a:t>Model:Random</a:t>
            </a:r>
            <a:r>
              <a:rPr lang="en-IN" sz="1200" dirty="0"/>
              <a:t> :Forest/</a:t>
            </a:r>
            <a:r>
              <a:rPr lang="en-IN" sz="1200" dirty="0" err="1"/>
              <a:t>XGBoost</a:t>
            </a:r>
            <a:endParaRPr lang="en-IN" sz="1200" dirty="0"/>
          </a:p>
          <a:p>
            <a:pPr lvl="0" defTabSz="914400" eaLnBrk="0" fontAlgn="base" hangingPunct="0">
              <a:lnSpc>
                <a:spcPct val="100000"/>
              </a:lnSpc>
              <a:spcBef>
                <a:spcPct val="0"/>
              </a:spcBef>
              <a:spcAft>
                <a:spcPct val="0"/>
              </a:spcAft>
              <a:buClrTx/>
              <a:buSzTx/>
              <a:buFont typeface="Wingdings" panose="05000000000000000000" pitchFamily="2" charset="2"/>
              <a:buChar char="§"/>
            </a:pPr>
            <a:r>
              <a:rPr lang="en-IN" sz="1200" dirty="0"/>
              <a:t>  Language: Python</a:t>
            </a:r>
          </a:p>
          <a:p>
            <a:pPr lvl="0" defTabSz="914400" eaLnBrk="0" fontAlgn="base" hangingPunct="0">
              <a:lnSpc>
                <a:spcPct val="100000"/>
              </a:lnSpc>
              <a:spcBef>
                <a:spcPct val="0"/>
              </a:spcBef>
              <a:spcAft>
                <a:spcPct val="0"/>
              </a:spcAft>
              <a:buClrTx/>
              <a:buSzTx/>
              <a:buFont typeface="Wingdings" panose="05000000000000000000" pitchFamily="2" charset="2"/>
              <a:buChar char="§"/>
            </a:pPr>
            <a:r>
              <a:rPr lang="en-US" altLang="en-US" sz="1200" dirty="0">
                <a:solidFill>
                  <a:schemeClr val="tx1"/>
                </a:solidFill>
              </a:rPr>
              <a:t> </a:t>
            </a:r>
            <a:r>
              <a:rPr lang="en-IN" sz="1200" dirty="0"/>
              <a:t>CI/</a:t>
            </a:r>
            <a:r>
              <a:rPr lang="en-IN" sz="1200" dirty="0" err="1"/>
              <a:t>CD:GitHub</a:t>
            </a:r>
            <a:r>
              <a:rPr lang="en-IN" sz="1200" dirty="0"/>
              <a:t> Actions</a:t>
            </a:r>
            <a:endParaRPr lang="en-US" altLang="en-US" sz="1200" dirty="0">
              <a:solidFill>
                <a:schemeClr val="tx1"/>
              </a:solidFill>
            </a:endParaRPr>
          </a:p>
          <a:p>
            <a:pPr marL="0" indent="0">
              <a:buNone/>
            </a:pPr>
            <a:r>
              <a:rPr lang="en-US" sz="1200" dirty="0"/>
              <a:t>        </a:t>
            </a:r>
          </a:p>
          <a:p>
            <a:pPr marL="0" indent="0">
              <a:buNone/>
            </a:pPr>
            <a:endParaRPr lang="en-US" sz="1600" spc="-100" dirty="0">
              <a:solidFill>
                <a:srgbClr val="000000"/>
              </a:solidFill>
            </a:endParaRPr>
          </a:p>
          <a:p>
            <a:pPr marL="0" indent="0">
              <a:buNone/>
            </a:pPr>
            <a:endParaRPr lang="en-IN" sz="1600" b="1" spc="-100" dirty="0">
              <a:solidFill>
                <a:srgbClr val="000000"/>
              </a:solidFill>
              <a:latin typeface="Arial" panose="020B0604020202020204" pitchFamily="34" charset="0"/>
              <a:cs typeface="Arial" panose="020B0604020202020204" pitchFamily="34" charset="0"/>
            </a:endParaRPr>
          </a:p>
          <a:p>
            <a:pPr>
              <a:buFont typeface="Wingdings" panose="05000000000000000000" pitchFamily="2" charset="2"/>
              <a:buChar char="Ø"/>
            </a:pPr>
            <a:endParaRPr lang="en-US" sz="1600" b="1" dirty="0">
              <a:latin typeface="Arial" panose="020B0604020202020204" pitchFamily="34" charset="0"/>
              <a:cs typeface="Arial" panose="020B0604020202020204" pitchFamily="34" charset="0"/>
            </a:endParaRPr>
          </a:p>
          <a:p>
            <a:pPr marL="305435" indent="-305435"/>
            <a:endParaRPr lang="en-US" sz="2800" b="1" dirty="0"/>
          </a:p>
          <a:p>
            <a:pPr marL="305435" indent="-305435"/>
            <a:endParaRPr lang="en-US" sz="2800" b="1" dirty="0"/>
          </a:p>
          <a:p>
            <a:pPr marL="305435" indent="-305435"/>
            <a:endParaRPr lang="en-US" sz="2800" b="1" dirty="0"/>
          </a:p>
          <a:p>
            <a:pPr marL="305435" indent="-305435"/>
            <a:endParaRPr lang="en-US" sz="2800" b="1" dirty="0"/>
          </a:p>
        </p:txBody>
      </p:sp>
      <p:sp>
        <p:nvSpPr>
          <p:cNvPr id="6" name="Rectangle 1">
            <a:extLst>
              <a:ext uri="{FF2B5EF4-FFF2-40B4-BE49-F238E27FC236}">
                <a16:creationId xmlns:a16="http://schemas.microsoft.com/office/drawing/2014/main" id="{1DF68947-7FE1-08CB-8553-9343CD42272C}"/>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5E471204-6158-9B90-899E-63BB5EC28555}"/>
              </a:ext>
            </a:extLst>
          </p:cNvPr>
          <p:cNvSpPr>
            <a:spLocks noChangeArrowheads="1"/>
          </p:cNvSpPr>
          <p:nvPr/>
        </p:nvSpPr>
        <p:spPr bwMode="auto">
          <a:xfrm>
            <a:off x="152400" y="2425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9" name="Table 8">
            <a:extLst>
              <a:ext uri="{FF2B5EF4-FFF2-40B4-BE49-F238E27FC236}">
                <a16:creationId xmlns:a16="http://schemas.microsoft.com/office/drawing/2014/main" id="{108EB96F-3650-7367-6F22-BD19B07AFC6F}"/>
              </a:ext>
            </a:extLst>
          </p:cNvPr>
          <p:cNvGraphicFramePr>
            <a:graphicFrameLocks noGrp="1"/>
          </p:cNvGraphicFramePr>
          <p:nvPr>
            <p:extLst>
              <p:ext uri="{D42A27DB-BD31-4B8C-83A1-F6EECF244321}">
                <p14:modId xmlns:p14="http://schemas.microsoft.com/office/powerpoint/2010/main" val="975490406"/>
              </p:ext>
            </p:extLst>
          </p:nvPr>
        </p:nvGraphicFramePr>
        <p:xfrm>
          <a:off x="2772697" y="4866967"/>
          <a:ext cx="8788780" cy="365760"/>
        </p:xfrm>
        <a:graphic>
          <a:graphicData uri="http://schemas.openxmlformats.org/drawingml/2006/table">
            <a:tbl>
              <a:tblPr/>
              <a:tblGrid>
                <a:gridCol w="8788780">
                  <a:extLst>
                    <a:ext uri="{9D8B030D-6E8A-4147-A177-3AD203B41FA5}">
                      <a16:colId xmlns:a16="http://schemas.microsoft.com/office/drawing/2014/main" val="1268425614"/>
                    </a:ext>
                  </a:extLst>
                </a:gridCol>
              </a:tblGrid>
              <a:tr h="257605">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1576260556"/>
                  </a:ext>
                </a:extLst>
              </a:tr>
            </a:tbl>
          </a:graphicData>
        </a:graphic>
      </p:graphicFrame>
    </p:spTree>
    <p:extLst>
      <p:ext uri="{BB962C8B-B14F-4D97-AF65-F5344CB8AC3E}">
        <p14:creationId xmlns:p14="http://schemas.microsoft.com/office/powerpoint/2010/main" val="4154508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6" name="Content Placeholder 5">
            <a:extLst>
              <a:ext uri="{FF2B5EF4-FFF2-40B4-BE49-F238E27FC236}">
                <a16:creationId xmlns:a16="http://schemas.microsoft.com/office/drawing/2014/main" id="{F7861F11-CC56-2E2A-DEDA-9A62E4231892}"/>
              </a:ext>
            </a:extLst>
          </p:cNvPr>
          <p:cNvPicPr>
            <a:picLocks noGrp="1" noChangeAspect="1"/>
          </p:cNvPicPr>
          <p:nvPr>
            <p:ph idx="1"/>
          </p:nvPr>
        </p:nvPicPr>
        <p:blipFill>
          <a:blip r:embed="rId2"/>
          <a:stretch>
            <a:fillRect/>
          </a:stretch>
        </p:blipFill>
        <p:spPr>
          <a:xfrm>
            <a:off x="337347" y="3565046"/>
            <a:ext cx="2972235" cy="2736344"/>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C81E2F0D-E603-794C-13B5-F571E097306D}"/>
              </a:ext>
            </a:extLst>
          </p:cNvPr>
          <p:cNvPicPr>
            <a:picLocks noChangeAspect="1"/>
          </p:cNvPicPr>
          <p:nvPr/>
        </p:nvPicPr>
        <p:blipFill>
          <a:blip r:embed="rId3"/>
          <a:stretch>
            <a:fillRect/>
          </a:stretch>
        </p:blipFill>
        <p:spPr>
          <a:xfrm>
            <a:off x="581192" y="1422531"/>
            <a:ext cx="2484547" cy="1796304"/>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D9B11478-54A1-5600-459D-1B1773E04FB7}"/>
              </a:ext>
            </a:extLst>
          </p:cNvPr>
          <p:cNvPicPr>
            <a:picLocks noChangeAspect="1"/>
          </p:cNvPicPr>
          <p:nvPr/>
        </p:nvPicPr>
        <p:blipFill>
          <a:blip r:embed="rId4"/>
          <a:stretch>
            <a:fillRect/>
          </a:stretch>
        </p:blipFill>
        <p:spPr>
          <a:xfrm>
            <a:off x="3449256" y="1165221"/>
            <a:ext cx="4336467" cy="2549169"/>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808673CE-2FB3-8C08-7773-C2F91A1900AD}"/>
              </a:ext>
            </a:extLst>
          </p:cNvPr>
          <p:cNvPicPr>
            <a:picLocks noChangeAspect="1"/>
          </p:cNvPicPr>
          <p:nvPr/>
        </p:nvPicPr>
        <p:blipFill>
          <a:blip r:embed="rId5"/>
          <a:stretch>
            <a:fillRect/>
          </a:stretch>
        </p:blipFill>
        <p:spPr>
          <a:xfrm>
            <a:off x="7925397" y="1083114"/>
            <a:ext cx="3825085" cy="2631276"/>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12807FB6-8DE3-14F4-51C4-95DC54C10E40}"/>
              </a:ext>
            </a:extLst>
          </p:cNvPr>
          <p:cNvPicPr>
            <a:picLocks noChangeAspect="1"/>
          </p:cNvPicPr>
          <p:nvPr/>
        </p:nvPicPr>
        <p:blipFill>
          <a:blip r:embed="rId6"/>
          <a:stretch>
            <a:fillRect/>
          </a:stretch>
        </p:blipFill>
        <p:spPr>
          <a:xfrm>
            <a:off x="3613399" y="3867273"/>
            <a:ext cx="3586054" cy="2727514"/>
          </a:xfrm>
          <a:prstGeom prst="rect">
            <a:avLst/>
          </a:prstGeom>
        </p:spPr>
      </p:pic>
      <p:pic>
        <p:nvPicPr>
          <p:cNvPr id="14" name="Picture 13">
            <a:extLst>
              <a:ext uri="{FF2B5EF4-FFF2-40B4-BE49-F238E27FC236}">
                <a16:creationId xmlns:a16="http://schemas.microsoft.com/office/drawing/2014/main" id="{B95B5276-DD6D-F6E8-B784-8D0A1AE33D1F}"/>
              </a:ext>
            </a:extLst>
          </p:cNvPr>
          <p:cNvPicPr>
            <a:picLocks noChangeAspect="1"/>
          </p:cNvPicPr>
          <p:nvPr/>
        </p:nvPicPr>
        <p:blipFill>
          <a:blip r:embed="rId7"/>
          <a:stretch>
            <a:fillRect/>
          </a:stretch>
        </p:blipFill>
        <p:spPr>
          <a:xfrm>
            <a:off x="7295983" y="3964750"/>
            <a:ext cx="4314825" cy="1810136"/>
          </a:xfrm>
          <a:prstGeom prst="rect">
            <a:avLst/>
          </a:prstGeom>
        </p:spPr>
      </p:pic>
    </p:spTree>
    <p:extLst>
      <p:ext uri="{BB962C8B-B14F-4D97-AF65-F5344CB8AC3E}">
        <p14:creationId xmlns:p14="http://schemas.microsoft.com/office/powerpoint/2010/main" val="1483293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1D845-A9EA-068E-A10B-7F68114FBC3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1275A5B-AE1D-6C16-3C18-E6A2A8BEC0D0}"/>
              </a:ext>
            </a:extLst>
          </p:cNvPr>
          <p:cNvSpPr>
            <a:spLocks noGrp="1"/>
          </p:cNvSpPr>
          <p:nvPr>
            <p:ph type="title"/>
          </p:nvPr>
        </p:nvSpPr>
        <p:spPr>
          <a:xfrm>
            <a:off x="439838" y="775504"/>
            <a:ext cx="11007524" cy="3518704"/>
          </a:xfrm>
        </p:spPr>
        <p:txBody>
          <a:bodyPr>
            <a:normAutofit/>
          </a:bodyPr>
          <a:lstStyle/>
          <a:p>
            <a:pPr marL="305435" indent="-305435"/>
            <a:r>
              <a:rPr lang="en-US" b="1" dirty="0"/>
              <a:t>Attach your </a:t>
            </a:r>
            <a:r>
              <a:rPr lang="en-US" b="1" dirty="0" err="1"/>
              <a:t>Github</a:t>
            </a:r>
            <a:r>
              <a:rPr lang="en-US" b="1" dirty="0"/>
              <a:t> link</a:t>
            </a:r>
            <a:br>
              <a:rPr lang="en-US" b="1" dirty="0"/>
            </a:br>
            <a:r>
              <a:rPr lang="en-US" dirty="0">
                <a:ea typeface="+mn-lt"/>
                <a:cs typeface="+mn-lt"/>
                <a:hlinkClick r:id="rId2"/>
              </a:rPr>
              <a:t>https://github.com/Pritamp2004/EMPLOYEE-SALARY-PREDICTIONS.git</a:t>
            </a:r>
            <a:br>
              <a:rPr lang="en-US" dirty="0">
                <a:ea typeface="+mn-lt"/>
                <a:cs typeface="+mn-lt"/>
              </a:rPr>
            </a:br>
            <a:br>
              <a:rPr lang="en-US" dirty="0">
                <a:ea typeface="+mn-lt"/>
                <a:cs typeface="+mn-lt"/>
              </a:rPr>
            </a:br>
            <a:r>
              <a:rPr lang="en-US" dirty="0">
                <a:ea typeface="+mn-lt"/>
                <a:cs typeface="+mn-lt"/>
              </a:rPr>
              <a:t>Another </a:t>
            </a:r>
            <a:r>
              <a:rPr lang="en-US" b="1" dirty="0" err="1"/>
              <a:t>Github</a:t>
            </a:r>
            <a:r>
              <a:rPr lang="en-US" b="1" dirty="0"/>
              <a:t> link</a:t>
            </a:r>
            <a:br>
              <a:rPr lang="en-US" b="1" dirty="0"/>
            </a:br>
            <a:br>
              <a:rPr lang="en-US" b="1" dirty="0">
                <a:ea typeface="+mn-lt"/>
                <a:cs typeface="+mn-lt"/>
              </a:rPr>
            </a:br>
            <a:r>
              <a:rPr lang="en-US" dirty="0">
                <a:ea typeface="+mn-lt"/>
                <a:cs typeface="+mn-lt"/>
                <a:hlinkClick r:id="rId2"/>
              </a:rPr>
              <a:t>https://github.com/Pritamp2004/EMPLOYEE-SALARY-PREDICTIONS</a:t>
            </a:r>
            <a:endParaRPr lang="en-US" dirty="0">
              <a:ea typeface="+mn-lt"/>
              <a:cs typeface="+mn-lt"/>
            </a:endParaRPr>
          </a:p>
        </p:txBody>
      </p:sp>
    </p:spTree>
    <p:extLst>
      <p:ext uri="{BB962C8B-B14F-4D97-AF65-F5344CB8AC3E}">
        <p14:creationId xmlns:p14="http://schemas.microsoft.com/office/powerpoint/2010/main" val="3552639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a:xfrm>
            <a:off x="581192" y="1302026"/>
            <a:ext cx="11029615" cy="4941458"/>
          </a:xfrm>
        </p:spPr>
        <p:txBody>
          <a:bodyPr>
            <a:normAutofit lnSpcReduction="10000"/>
          </a:bodyPr>
          <a:lstStyle/>
          <a:p>
            <a:pPr marL="305435" indent="-305435"/>
            <a:endParaRPr lang="en-US" sz="1400" dirty="0"/>
          </a:p>
          <a:p>
            <a:pPr marL="0" indent="0">
              <a:buNone/>
            </a:pPr>
            <a:r>
              <a:rPr lang="en-US" sz="1400" dirty="0"/>
              <a:t>The project aimed to develop a predictive model for employee salaries based on key features such as education level, years of experience, job title, and industry. The findings indicate that the proposed machine learning solution—using algorithms such as Linear Regression, Random Forest, or </a:t>
            </a:r>
            <a:r>
              <a:rPr lang="en-US" sz="1400" dirty="0" err="1"/>
              <a:t>XGBoost</a:t>
            </a:r>
            <a:r>
              <a:rPr lang="en-US" sz="1400" dirty="0"/>
              <a:t>—was generally effective in accurately forecasting salaries.</a:t>
            </a:r>
          </a:p>
          <a:p>
            <a:pPr>
              <a:buFont typeface="Wingdings" panose="05000000000000000000" pitchFamily="2" charset="2"/>
              <a:buChar char="Ø"/>
            </a:pPr>
            <a:r>
              <a:rPr lang="en-US" sz="1200" b="1" dirty="0"/>
              <a:t>Effectiveness of the Proposed Solution:</a:t>
            </a:r>
            <a:endParaRPr lang="en-US" sz="1200" dirty="0"/>
          </a:p>
          <a:p>
            <a:r>
              <a:rPr lang="en-US" sz="1100" dirty="0"/>
              <a:t>The model achieved satisfactory accuracy, with metrics such as RMSE and R² scores indicating a good fit between predicted and actual salaries.</a:t>
            </a:r>
          </a:p>
          <a:p>
            <a:r>
              <a:rPr lang="en-US" sz="1100" dirty="0"/>
              <a:t>Feature importance analysis revealed that experience and job title were the most influential factors, followed by education level and location.</a:t>
            </a:r>
          </a:p>
          <a:p>
            <a:r>
              <a:rPr lang="en-US" sz="1100" dirty="0"/>
              <a:t>The solution provides practical value for HR departments, job seekers, and companies in planning compensation strategies and ensuring pay equity.</a:t>
            </a:r>
          </a:p>
          <a:p>
            <a:pPr>
              <a:buFont typeface="Wingdings" panose="05000000000000000000" pitchFamily="2" charset="2"/>
              <a:buChar char="Ø"/>
            </a:pPr>
            <a:r>
              <a:rPr lang="en-US" sz="1200" b="1" dirty="0"/>
              <a:t>Challenges Encountered:</a:t>
            </a:r>
            <a:endParaRPr lang="en-US" sz="1200" dirty="0"/>
          </a:p>
          <a:p>
            <a:r>
              <a:rPr lang="en-US" sz="1100" b="1" dirty="0"/>
              <a:t>Data Quality:</a:t>
            </a:r>
            <a:r>
              <a:rPr lang="en-US" sz="1100" dirty="0"/>
              <a:t> Missing values, inconsistent job titles, and unstructured data posed initial challenges, requiring significant preprocessing and feature engineering.</a:t>
            </a:r>
          </a:p>
          <a:p>
            <a:r>
              <a:rPr lang="en-US" sz="1100" b="1" dirty="0"/>
              <a:t>Overfitting:</a:t>
            </a:r>
            <a:r>
              <a:rPr lang="en-US" sz="1100" dirty="0"/>
              <a:t> Some models, especially with a high number of features, were prone to overfitting. Regularization and cross-validation were necessary to improve generalizability.</a:t>
            </a:r>
          </a:p>
          <a:p>
            <a:pPr>
              <a:buFont typeface="Wingdings" panose="05000000000000000000" pitchFamily="2" charset="2"/>
              <a:buChar char="Ø"/>
            </a:pPr>
            <a:r>
              <a:rPr lang="en-US" sz="1200" b="1" dirty="0"/>
              <a:t>Potential Improvements:</a:t>
            </a:r>
            <a:endParaRPr lang="en-US" sz="1200" dirty="0"/>
          </a:p>
          <a:p>
            <a:r>
              <a:rPr lang="en-US" sz="1100" b="1" dirty="0"/>
              <a:t>Model Enhancement:</a:t>
            </a:r>
            <a:r>
              <a:rPr lang="en-US" sz="1100" dirty="0"/>
              <a:t> Incorporating deep learning or hybrid models could improve accuracy, especially with larger datasets.</a:t>
            </a:r>
          </a:p>
          <a:p>
            <a:r>
              <a:rPr lang="en-US" sz="1100" b="1" dirty="0"/>
              <a:t>Additional Features:</a:t>
            </a:r>
            <a:r>
              <a:rPr lang="en-US" sz="1100" dirty="0"/>
              <a:t> Including company size, performance reviews, and skill-specific certifications could provide a more holistic view of salary determinants.</a:t>
            </a:r>
          </a:p>
          <a:p>
            <a:pPr>
              <a:buFont typeface="Wingdings" panose="05000000000000000000" pitchFamily="2" charset="2"/>
              <a:buChar char="§"/>
            </a:pPr>
            <a:r>
              <a:rPr lang="en-US" sz="1100" b="1" dirty="0"/>
              <a:t>Real-time Updating:</a:t>
            </a:r>
            <a:r>
              <a:rPr lang="en-US" sz="1100" dirty="0"/>
              <a:t> Integrating APIs or automated pipelines for real-time data collection and model retraining would enhance adaptability and relevance.</a:t>
            </a:r>
          </a:p>
          <a:p>
            <a:pPr marL="0" indent="0">
              <a:buNone/>
            </a:pPr>
            <a:r>
              <a:rPr lang="en-US" sz="1100" dirty="0"/>
              <a:t>The employee salary prediction model demonstrates strong potential in assisting organizations with data-driven compensation decisions. Despite challenges like data quality and fairness, the system provides a scalable and adaptable framework. Future efforts should focus on enhancing model robustness, ensuring ethical use, and maintaining transparency in predictions to foster trust and accountability in salary management processes.</a:t>
            </a:r>
          </a:p>
          <a:p>
            <a:endParaRPr lang="en-US" sz="1100" dirty="0"/>
          </a:p>
          <a:p>
            <a:pPr marL="0" indent="0">
              <a:buNone/>
            </a:pPr>
            <a:endParaRPr lang="en-IN" sz="1400" dirty="0"/>
          </a:p>
        </p:txBody>
      </p:sp>
    </p:spTree>
    <p:extLst>
      <p:ext uri="{BB962C8B-B14F-4D97-AF65-F5344CB8AC3E}">
        <p14:creationId xmlns:p14="http://schemas.microsoft.com/office/powerpoint/2010/main" val="318331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p:txBody>
          <a:bodyPr/>
          <a:lstStyle/>
          <a:p>
            <a:pPr marL="0" indent="0">
              <a:buNone/>
            </a:pPr>
            <a:endParaRPr lang="en-US" sz="2000" b="1" dirty="0"/>
          </a:p>
          <a:p>
            <a:pPr>
              <a:buFont typeface="Wingdings" panose="05000000000000000000" pitchFamily="2" charset="2"/>
              <a:buChar char="Ø"/>
            </a:pPr>
            <a:r>
              <a:rPr lang="en-US" sz="1400" b="1" dirty="0"/>
              <a:t>Integration of Advanced Machine Learning Models</a:t>
            </a:r>
          </a:p>
          <a:p>
            <a:r>
              <a:rPr lang="en-US" sz="1200" b="1" dirty="0"/>
              <a:t>Deep Learning Architectures:</a:t>
            </a:r>
            <a:r>
              <a:rPr lang="en-US" sz="1200" dirty="0"/>
              <a:t> Incorporating neural networks, especially recurrent and attention-based models, can capture complex, non-linear relationships in large datasets.</a:t>
            </a:r>
          </a:p>
          <a:p>
            <a:r>
              <a:rPr lang="en-US" sz="1200" b="1" dirty="0"/>
              <a:t>Automated Machine Learning (</a:t>
            </a:r>
            <a:r>
              <a:rPr lang="en-US" sz="1200" b="1" dirty="0" err="1"/>
              <a:t>AutoML</a:t>
            </a:r>
            <a:r>
              <a:rPr lang="en-US" sz="1200" b="1" dirty="0"/>
              <a:t>):</a:t>
            </a:r>
            <a:r>
              <a:rPr lang="en-US" sz="1200" dirty="0"/>
              <a:t> Implementing </a:t>
            </a:r>
            <a:r>
              <a:rPr lang="en-US" sz="1200" dirty="0" err="1"/>
              <a:t>AutoML</a:t>
            </a:r>
            <a:r>
              <a:rPr lang="en-US" sz="1200" dirty="0"/>
              <a:t> tools can optimize model selection, hyperparameter tuning, and feature engineering automatically, improving performance with less manual effort.</a:t>
            </a:r>
          </a:p>
          <a:p>
            <a:pPr>
              <a:buFont typeface="Wingdings" panose="05000000000000000000" pitchFamily="2" charset="2"/>
              <a:buChar char="Ø"/>
            </a:pPr>
            <a:r>
              <a:rPr lang="en-US" sz="1400" b="1" dirty="0"/>
              <a:t>Expansion of Feature Set</a:t>
            </a:r>
          </a:p>
          <a:p>
            <a:r>
              <a:rPr lang="en-US" sz="1200" b="1" dirty="0"/>
              <a:t>Behavioral and Performance Metrics:</a:t>
            </a:r>
            <a:r>
              <a:rPr lang="en-US" sz="1200" dirty="0"/>
              <a:t> Including employee performance scores, productivity metrics, and project outcomes could enhance prediction accuracy.</a:t>
            </a:r>
          </a:p>
          <a:p>
            <a:r>
              <a:rPr lang="en-US" sz="1200" b="1" dirty="0"/>
              <a:t>Macroeconomic Indicators:</a:t>
            </a:r>
            <a:r>
              <a:rPr lang="en-US" sz="1200" dirty="0"/>
              <a:t> Factoring in inflation rates, unemployment rates, and regional economic conditions can provide better contextual salary predictions.</a:t>
            </a:r>
          </a:p>
          <a:p>
            <a:r>
              <a:rPr lang="en-US" sz="1200" b="1" dirty="0"/>
              <a:t>Skill-Based Analysis:</a:t>
            </a:r>
            <a:r>
              <a:rPr lang="en-US" sz="1200" dirty="0"/>
              <a:t> Incorporating data on specific technical and soft skills can help generate more precise salary estimates based on role demands.</a:t>
            </a:r>
          </a:p>
          <a:p>
            <a:pPr>
              <a:buFont typeface="Wingdings" panose="05000000000000000000" pitchFamily="2" charset="2"/>
              <a:buChar char="Ø"/>
            </a:pPr>
            <a:r>
              <a:rPr lang="en-US" sz="1400" b="1" dirty="0"/>
              <a:t>Real-Time Data Integration</a:t>
            </a:r>
          </a:p>
          <a:p>
            <a:r>
              <a:rPr lang="en-US" sz="1200" b="1" dirty="0"/>
              <a:t>API Connections to Job Portals:</a:t>
            </a:r>
            <a:r>
              <a:rPr lang="en-US" sz="1200" dirty="0"/>
              <a:t> Real-time access to job listings and salary reports can ensure up-to-date and relevant data.</a:t>
            </a:r>
          </a:p>
          <a:p>
            <a:r>
              <a:rPr lang="en-US" sz="1200" b="1" dirty="0"/>
              <a:t>Dynamic Model Updating:</a:t>
            </a:r>
            <a:r>
              <a:rPr lang="en-US" sz="1200" dirty="0"/>
              <a:t> Creating pipelines for continuous learning and retraining can help the model adapt to evolving labor market trends.</a:t>
            </a:r>
          </a:p>
          <a:p>
            <a:pPr marL="0" indent="0">
              <a:buNone/>
            </a:pPr>
            <a:endParaRPr lang="en-US" sz="1200" dirty="0"/>
          </a:p>
          <a:p>
            <a:pPr marL="0" indent="0">
              <a:buNone/>
            </a:pPr>
            <a:endParaRPr lang="en-US" sz="1400" dirty="0"/>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scope(Optional)</a:t>
            </a:r>
          </a:p>
        </p:txBody>
      </p:sp>
    </p:spTree>
    <p:extLst>
      <p:ext uri="{BB962C8B-B14F-4D97-AF65-F5344CB8AC3E}">
        <p14:creationId xmlns:p14="http://schemas.microsoft.com/office/powerpoint/2010/main" val="61488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p:txBody>
          <a:bodyPr>
            <a:normAutofit/>
          </a:bodyPr>
          <a:lstStyle/>
          <a:p>
            <a:pPr marL="305435" indent="-305435"/>
            <a:r>
              <a:rPr lang="en-IN" sz="2800" b="1" dirty="0">
                <a:solidFill>
                  <a:srgbClr val="0F0F0F"/>
                </a:solidFill>
                <a:ea typeface="+mn-lt"/>
                <a:cs typeface="+mn-lt"/>
              </a:rPr>
              <a:t>List and cite relevant sources, research papers, and articles that were instrumental in developing the proposed solution</a:t>
            </a:r>
            <a:r>
              <a:rPr lang="en-IN" sz="2400" dirty="0">
                <a:solidFill>
                  <a:srgbClr val="0F0F0F"/>
                </a:solidFill>
                <a:ea typeface="+mn-lt"/>
                <a:cs typeface="+mn-lt"/>
              </a:rPr>
              <a:t>. </a:t>
            </a:r>
          </a:p>
          <a:p>
            <a:pPr marL="305435" indent="-305435"/>
            <a:r>
              <a:rPr lang="en-IN" dirty="0">
                <a:hlinkClick r:id="rId2"/>
              </a:rPr>
              <a:t>EMPLOYEE</a:t>
            </a:r>
            <a:r>
              <a:rPr lang="en-IN" dirty="0"/>
              <a:t> </a:t>
            </a:r>
            <a:r>
              <a:rPr lang="en-IN" dirty="0">
                <a:hlinkClick r:id="rId2"/>
              </a:rPr>
              <a:t>SALARY</a:t>
            </a:r>
            <a:r>
              <a:rPr lang="en-IN" dirty="0"/>
              <a:t> </a:t>
            </a:r>
            <a:r>
              <a:rPr lang="en-IN" dirty="0">
                <a:hlinkClick r:id="rId2"/>
              </a:rPr>
              <a:t>PREDICTION</a:t>
            </a:r>
            <a:r>
              <a:rPr lang="en-IN" dirty="0"/>
              <a:t>.</a:t>
            </a:r>
            <a:r>
              <a:rPr lang="en-IN" dirty="0">
                <a:hlinkClick r:id="rId2"/>
              </a:rPr>
              <a:t>ipynb-Jupyter</a:t>
            </a:r>
            <a:endParaRPr lang="en-IN" dirty="0"/>
          </a:p>
          <a:p>
            <a:pPr marL="305435" indent="-305435"/>
            <a:r>
              <a:rPr lang="en-IN" sz="2400" dirty="0" err="1"/>
              <a:t>Sklearn</a:t>
            </a:r>
            <a:endParaRPr lang="en-IN" sz="2400" dirty="0"/>
          </a:p>
          <a:p>
            <a:pPr marL="0" indent="0">
              <a:buNone/>
            </a:pPr>
            <a:endParaRPr lang="en-IN" sz="2400" dirty="0"/>
          </a:p>
        </p:txBody>
      </p:sp>
    </p:spTree>
    <p:extLst>
      <p:ext uri="{BB962C8B-B14F-4D97-AF65-F5344CB8AC3E}">
        <p14:creationId xmlns:p14="http://schemas.microsoft.com/office/powerpoint/2010/main" val="72895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dirty="0">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D289AE2-D2AE-49D1-AFAC-3A79F6794255}">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c0fa2617-96bd-425d-8578-e93563fe37c5"/>
    <ds:schemaRef ds:uri="9162bd5b-4ed9-4da3-b376-05204580ba3f"/>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Future forward</Template>
  <TotalTime>416</TotalTime>
  <Words>1008</Words>
  <Application>Microsoft Office PowerPoint</Application>
  <PresentationFormat>Widescreen</PresentationFormat>
  <Paragraphs>109</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Calibri Light</vt:lpstr>
      <vt:lpstr>Franklin Gothic Book</vt:lpstr>
      <vt:lpstr>Franklin Gothic Demi</vt:lpstr>
      <vt:lpstr>Wingdings</vt:lpstr>
      <vt:lpstr>Wingdings 2</vt:lpstr>
      <vt:lpstr>DividendVTI</vt:lpstr>
      <vt:lpstr>PROJECT TITLE: Employee salary prediction using machine learning</vt:lpstr>
      <vt:lpstr>OUTLINE</vt:lpstr>
      <vt:lpstr>Problem Statement</vt:lpstr>
      <vt:lpstr>System  Approach</vt:lpstr>
      <vt:lpstr>Algorithm &amp; Deployment</vt:lpstr>
      <vt:lpstr>Result</vt:lpstr>
      <vt:lpstr>Attach your Github link https://github.com/Pritamp2004/EMPLOYEE-SALARY-PREDICTIONS.git  Another Github link  https://github.com/Pritamp2004/EMPLOYEE-SALARY-PREDICTIONS</vt:lpstr>
      <vt:lpstr>Conclusion</vt:lpstr>
      <vt:lpstr>PowerPoint Presentation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Pritam Patra</cp:lastModifiedBy>
  <cp:revision>39</cp:revision>
  <dcterms:created xsi:type="dcterms:W3CDTF">2021-05-26T16:50:10Z</dcterms:created>
  <dcterms:modified xsi:type="dcterms:W3CDTF">2025-07-23T15:24:02Z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